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project presentation of CarbonIntel, a Precision Agriculture Carbon Intelligence Platform.</a:t>
            </a:r>
          </a:p>
          <a:p/>
          <a:p>
            <a:r>
              <a:t>Global agriculture faces a dual challenge: maximizing yields to feed a growing population while minimizing environmental impacts.</a:t>
            </a:r>
          </a:p>
          <a:p>
            <a:r>
              <a:t>CarbonIntel bridges this gap by turning complex soil chemistry, fertilizer logs, and weather data into actionable carbon footprint predictions and optimization recommendations.</a:t>
            </a:r>
          </a:p>
          <a:p>
            <a:r>
              <a:t>This presentation will walk through the system's motivation, experimental methodology, dataset details, ML performance, and frontend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background and core problem. Agriculture contributes heavily to emissions, yet growers lack simple tools to calculate and optimize their footprint.</a:t>
            </a:r>
          </a:p>
          <a:p/>
          <a:p>
            <a:r>
              <a:t>CarbonIntel resolves this paradox by translating the chemical metrics of a standard soil card—like Nitrogen, pH, and Carbon—coupled with temperature and rainfall, into actionable carbon estimates.</a:t>
            </a:r>
          </a:p>
          <a:p>
            <a:r>
              <a:t>This enables growers to see how management practices affect their score before committing resources.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the core research problem and the primary objectives.</a:t>
            </a:r>
          </a:p>
          <a:p/>
          <a:p>
            <a:r>
              <a:t>Objective 1 is to train and validate a robust machine learning regressor that outperforms simple linear baselines in predicting carbon footprint.</a:t>
            </a:r>
          </a:p>
          <a:p>
            <a:r>
              <a:t>Objective 2 is to deploy this model inside a practical frontend tool that queries APIs like NASA and SoilGrids, helping users bypass manual weather log entries.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block diagram displays the end-to-end architecture.</a:t>
            </a:r>
          </a:p>
          <a:p/>
          <a:p>
            <a:r>
              <a:t>First, a user inputs a location (via address, coordinate pin, or district select).</a:t>
            </a:r>
          </a:p>
          <a:p>
            <a:r>
              <a:t>Second, APIs fetch soil and weather values dynamically, resolving them into N, P, K, pH, temperature, and rain.</a:t>
            </a:r>
          </a:p>
          <a:p>
            <a:r>
              <a:t>Third, the React client passes this payload to the FastAPI backend, where the XGBoost model runs predictions.</a:t>
            </a:r>
          </a:p>
          <a:p>
            <a:r>
              <a:t>Finally, the results are rendered in the dashboard along with sustainability classifications and custom recommendation lists.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data collection and preprocessing.</a:t>
            </a:r>
          </a:p>
          <a:p/>
          <a:p>
            <a:r>
              <a:t>We used a hybrid dataset. 47.2% comes from real soil testing records in Chitradurga/Challakere (over 17,000 rows).</a:t>
            </a:r>
          </a:p>
          <a:p>
            <a:r>
              <a:t>To allow the model to generalize across Karnataka, we synthesized 2,000 records per district for 10 other districts using Gaussian distributions aligned with official soil health card reports.</a:t>
            </a:r>
          </a:p>
          <a:p>
            <a:r>
              <a:t>Values were clipped to strict biological limits to prevent the model from learning from anomalous outliers.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machine learning pipeline structure.</a:t>
            </a:r>
          </a:p>
          <a:p/>
          <a:p>
            <a:r>
              <a:t>We ingest 11 features: 9 numeric and 2 categorical.</a:t>
            </a:r>
          </a:p>
          <a:p>
            <a:r>
              <a:t>We use scikit-learn's ColumnTransformer to apply StandardScaler to numerical features, ensuring they are at the same scale, and OneHotEncoder to convert categorical variables into binary vectors.</a:t>
            </a:r>
          </a:p>
          <a:p>
            <a:r>
              <a:t>We then serialize this entire pipeline using joblib so that raw data can be passed directly to the predict API, avoiding training-serving skew.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evaluation results.</a:t>
            </a:r>
          </a:p>
          <a:p/>
          <a:p>
            <a:r>
              <a:t>Linear Regression struggles to model complex physics. Trees do exceptionally well because they handle threshold cutoffs naturally.</a:t>
            </a:r>
          </a:p>
          <a:p>
            <a:r>
              <a:t>Our tuned XGBoost model achieves an R-squared of 99.66% and an MAE of 21.36 kg CO2e/ha.</a:t>
            </a:r>
          </a:p>
          <a:p>
            <a:r>
              <a:t>This small error margin is critical because a difference of 50 kg can decide whether a farm meets the 800 kg threshold to earn carbon credits.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web application capabilities.</a:t>
            </a:r>
          </a:p>
          <a:p/>
          <a:p>
            <a:r>
              <a:t>Instead of requiring manual entry for everything, CarbonIntel integrates dynamic geocoding, global soil databases, and climatology APIs to auto-populate features.</a:t>
            </a:r>
          </a:p>
          <a:p>
            <a:r>
              <a:t>Additionally, we compiled a directory of 467 Indian Soil Testing Laboratories. The client computes the Haversine distance, matching the user's location to the nearest physical lab to encourage empirical testing.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translation of footprint metrics into economic incentives.</a:t>
            </a:r>
          </a:p>
          <a:p/>
          <a:p>
            <a:r>
              <a:t>The sustainability zones classify the farm output into Gold, Silver, and Bronze ratings to give clear environmental markers.</a:t>
            </a:r>
          </a:p>
          <a:p>
            <a:r>
              <a:t>The Carbon Credits formula rewards farmers who drop their footprint below the 800 kg benchmark. Every 1,000 kg offset represents one metric tonne of carbon offset, which translates directly to 1 carbon credit, incentivizing low-tillage, organic methods.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project has limitations. The primary limitation is the lack of physical field-level carbon measurements, forcing us to rely on IPCC formulas to model the target variable.</a:t>
            </a:r>
          </a:p>
          <a:p/>
          <a:p>
            <a:r>
              <a:t>In the future, we plan to validate this model using physical carbon-chamber gas measurements.</a:t>
            </a:r>
          </a:p>
          <a:p>
            <a:r>
              <a:t>We also plan to integrate satellite Sentinel-2 data to measure crop biomass, which directly correlates with carbon sequestration indices, moving towards a fully automated tracking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by listing our scientific and data references, including the IPCC guidelines, NASA POWER, ISRIC SoilGrids, and the Indian Soil Health Card database.</a:t>
            </a:r>
          </a:p>
          <a:p/>
          <a:p>
            <a:r>
              <a:t>We thank our mentors, evaluators, and the open data initiatives that made this study possible.</a:t>
            </a:r>
          </a:p>
          <a:p>
            <a:r>
              <a:t>Thank you for your time. I am now open to any questions regarding the ML modeling, API ingestion layers, or platform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2011680"/>
            <a:ext cx="137160" cy="29260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1371600"/>
          </a:xfrm>
          <a:prstGeom prst="rect">
            <a:avLst/>
          </a:prstGeom>
          <a:noFill/>
        </p:spPr>
        <p:txBody>
          <a:bodyPr wrap="square">
            <a:spAutoFit/>
          </a:bodyPr>
          <a:lstStyle/>
          <a:p>
            <a:pPr>
              <a:defRPr sz="5600" b="1">
                <a:solidFill>
                  <a:srgbClr val="FFFFFF"/>
                </a:solidFill>
                <a:latin typeface="Arial"/>
              </a:defRPr>
            </a:pPr>
            <a:r>
              <a:t>CarbonIntel</a:t>
            </a:r>
          </a:p>
          <a:p>
            <a:pPr>
              <a:spcBef>
                <a:spcPts val="1000"/>
              </a:spcBef>
              <a:defRPr sz="2200">
                <a:solidFill>
                  <a:srgbClr val="059669"/>
                </a:solidFill>
                <a:latin typeface="Arial"/>
              </a:defRPr>
            </a:pPr>
            <a:r>
              <a:t>Precision Agriculture Carbon Intelligence Platform</a:t>
            </a:r>
          </a:p>
        </p:txBody>
      </p:sp>
      <p:sp>
        <p:nvSpPr>
          <p:cNvPr id="4" name="TextBox 3"/>
          <p:cNvSpPr txBox="1"/>
          <p:nvPr/>
        </p:nvSpPr>
        <p:spPr>
          <a:xfrm>
            <a:off x="1097280" y="3474720"/>
            <a:ext cx="10058400" cy="1828800"/>
          </a:xfrm>
          <a:prstGeom prst="rect">
            <a:avLst/>
          </a:prstGeom>
          <a:noFill/>
        </p:spPr>
        <p:txBody>
          <a:bodyPr wrap="square">
            <a:spAutoFit/>
          </a:bodyPr>
          <a:lstStyle/>
          <a:p>
            <a:pPr>
              <a:spcAft>
                <a:spcPts val="2500"/>
              </a:spcAft>
              <a:defRPr sz="1400">
                <a:solidFill>
                  <a:srgbClr val="FFFFFF"/>
                </a:solidFill>
                <a:latin typeface="Arial"/>
              </a:defRPr>
            </a:pPr>
            <a:r>
              <a:t>Evaluating Net Carbon Footprints and Soil Sequestration using Machine Learning</a:t>
            </a:r>
          </a:p>
          <a:p>
            <a:pPr>
              <a:defRPr sz="1200">
                <a:solidFill>
                  <a:srgbClr val="64748B"/>
                </a:solidFill>
                <a:latin typeface="Arial"/>
              </a:defRPr>
            </a:pPr>
            <a:r>
              <a:t>Project Assessment  •  Academic Review Presentation</a:t>
            </a:r>
          </a:p>
          <a:p>
            <a:pPr>
              <a:defRPr sz="1100">
                <a:solidFill>
                  <a:srgbClr val="64748B"/>
                </a:solidFill>
                <a:latin typeface="Arial"/>
              </a:defRPr>
            </a:pPr>
            <a:r>
              <a:t>Location: Karnataka State (31 Priority Districts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Project Motivation &amp; Climatological Background</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2</a:t>
            </a:r>
          </a:p>
        </p:txBody>
      </p:sp>
      <p:sp>
        <p:nvSpPr>
          <p:cNvPr id="6" name="Rounded Rectangle 5"/>
          <p:cNvSpPr/>
          <p:nvPr/>
        </p:nvSpPr>
        <p:spPr>
          <a:xfrm>
            <a:off x="73152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1E293B"/>
                </a:solidFill>
              </a:defRPr>
            </a:pPr>
            <a:r>
              <a:t>The Climate-Agriculture Paradox</a:t>
            </a:r>
          </a:p>
          <a:p>
            <a:pPr>
              <a:spcBef>
                <a:spcPts val="800"/>
              </a:spcBef>
              <a:defRPr sz="1200">
                <a:solidFill>
                  <a:srgbClr val="1E293B"/>
                </a:solidFill>
              </a:defRPr>
            </a:pPr>
            <a:r>
              <a:t>Global Warming Impact: Agriculture represents a significant share of global emissions, particularly nitrous oxide (N2O) from fertilizers and methane (CH4) from crop cultivation.</a:t>
            </a:r>
          </a:p>
          <a:p>
            <a:pPr>
              <a:spcBef>
                <a:spcPts val="800"/>
              </a:spcBef>
              <a:defRPr sz="1200">
                <a:solidFill>
                  <a:srgbClr val="1E293B"/>
                </a:solidFill>
              </a:defRPr>
            </a:pPr>
            <a:r>
              <a:t>Fertilizer Volatility: Over-application of chemical nitrogen fertilizers (Urea, Ammonium Nitrate) degrades soil microbes and creates strong greenhouse gas release.</a:t>
            </a:r>
          </a:p>
          <a:p>
            <a:pPr>
              <a:spcBef>
                <a:spcPts val="800"/>
              </a:spcBef>
              <a:defRPr sz="1200">
                <a:solidFill>
                  <a:srgbClr val="1E293B"/>
                </a:solidFill>
              </a:defRPr>
            </a:pPr>
            <a:r>
              <a:t>Sequestration Gap: Healthy Soil Organic Carbon (SOC) acts as an atmospheric carbon sink. However, standard testing lacks tools to link chemistry directly to footprint metrics.</a:t>
            </a:r>
          </a:p>
        </p:txBody>
      </p:sp>
      <p:sp>
        <p:nvSpPr>
          <p:cNvPr id="7" name="Rounded Rectangle 6"/>
          <p:cNvSpPr/>
          <p:nvPr/>
        </p:nvSpPr>
        <p:spPr>
          <a:xfrm>
            <a:off x="630936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059669"/>
                </a:solidFill>
              </a:defRPr>
            </a:pPr>
            <a:r>
              <a:t>The CarbonIntel Approach</a:t>
            </a:r>
          </a:p>
          <a:p>
            <a:pPr>
              <a:spcBef>
                <a:spcPts val="800"/>
              </a:spcBef>
              <a:defRPr sz="1200">
                <a:solidFill>
                  <a:srgbClr val="1E293B"/>
                </a:solidFill>
              </a:defRPr>
            </a:pPr>
            <a:r>
              <a:t>Data-Driven Modeling: Merges laboratory soil card metrics (N, P, K, pH, SOC) with regional weather datasets to model agricultural emissions.</a:t>
            </a:r>
          </a:p>
          <a:p>
            <a:pPr>
              <a:spcBef>
                <a:spcPts val="800"/>
              </a:spcBef>
              <a:defRPr sz="1200">
                <a:solidFill>
                  <a:srgbClr val="1E293B"/>
                </a:solidFill>
              </a:defRPr>
            </a:pPr>
            <a:r>
              <a:t>Predictive Modeling: Utilizes machine learning models trained on hybrid datasets (real + statistical) to predict precise footprint ratings (kg CO2e/ha).</a:t>
            </a:r>
          </a:p>
          <a:p>
            <a:pPr>
              <a:spcBef>
                <a:spcPts val="800"/>
              </a:spcBef>
              <a:defRPr sz="1200">
                <a:solidFill>
                  <a:srgbClr val="1E293B"/>
                </a:solidFill>
              </a:defRPr>
            </a:pPr>
            <a:r>
              <a:t>Actionable Simulator: Provides farmers and agronomists with what-if interactive simulation tools to test chemical-to-organic fertilizer offsets in real-time.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Problem Statement &amp; Research Objectives</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3</a:t>
            </a:r>
          </a:p>
        </p:txBody>
      </p:sp>
      <p:sp>
        <p:nvSpPr>
          <p:cNvPr id="6" name="Rounded Rectangle 5"/>
          <p:cNvSpPr/>
          <p:nvPr/>
        </p:nvSpPr>
        <p:spPr>
          <a:xfrm>
            <a:off x="731520" y="164592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b="1" sz="1600">
                <a:solidFill>
                  <a:srgbClr val="1E293B"/>
                </a:solidFill>
              </a:defRPr>
            </a:pPr>
            <a:r>
              <a:t>Problem Statement</a:t>
            </a:r>
          </a:p>
          <a:p>
            <a:pPr>
              <a:spcBef>
                <a:spcPts val="800"/>
              </a:spcBef>
              <a:defRPr sz="1250">
                <a:solidFill>
                  <a:srgbClr val="1E293B"/>
                </a:solidFill>
              </a:defRPr>
            </a:pPr>
            <a:r>
              <a:t>Soil tests measure chemical nutrients but leave growers in the dark about greenhouse gas emissions. No accessible digital platform links local chemical soil profiles and live climatology to carbon footprint benchmarks (kg CO2e/ha).</a:t>
            </a:r>
          </a:p>
        </p:txBody>
      </p:sp>
      <p:sp>
        <p:nvSpPr>
          <p:cNvPr id="7" name="Rectangle 6"/>
          <p:cNvSpPr/>
          <p:nvPr/>
        </p:nvSpPr>
        <p:spPr>
          <a:xfrm>
            <a:off x="731520" y="1645920"/>
            <a:ext cx="3383280" cy="1097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164592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b="1" sz="1600">
                <a:solidFill>
                  <a:srgbClr val="059669"/>
                </a:solidFill>
              </a:defRPr>
            </a:pPr>
            <a:r>
              <a:t>Research Objective 1</a:t>
            </a:r>
          </a:p>
          <a:p>
            <a:pPr>
              <a:spcBef>
                <a:spcPts val="800"/>
              </a:spcBef>
              <a:defRPr sz="1250">
                <a:solidFill>
                  <a:srgbClr val="1E293B"/>
                </a:solidFill>
              </a:defRPr>
            </a:pPr>
            <a:r>
              <a:t>Develop and evaluate an optimized Machine Learning pipeline (using XGBoost and Random Forest) capable of predicting farm-level net carbon footprints from heterogeneous soil, crop, and weather factors.</a:t>
            </a:r>
          </a:p>
        </p:txBody>
      </p:sp>
      <p:sp>
        <p:nvSpPr>
          <p:cNvPr id="9" name="Rectangle 8"/>
          <p:cNvSpPr/>
          <p:nvPr/>
        </p:nvSpPr>
        <p:spPr>
          <a:xfrm>
            <a:off x="4297680" y="1645920"/>
            <a:ext cx="338328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0" y="1645920"/>
            <a:ext cx="33832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200"/>
              </a:spcAft>
              <a:defRPr b="1" sz="1600">
                <a:solidFill>
                  <a:srgbClr val="D97706"/>
                </a:solidFill>
              </a:defRPr>
            </a:pPr>
            <a:r>
              <a:t>Research Objective 2</a:t>
            </a:r>
          </a:p>
          <a:p>
            <a:pPr>
              <a:spcBef>
                <a:spcPts val="800"/>
              </a:spcBef>
              <a:defRPr sz="1250">
                <a:solidFill>
                  <a:srgbClr val="1E293B"/>
                </a:solidFill>
              </a:defRPr>
            </a:pPr>
            <a:r>
              <a:t>Implement an interactive, high-performance web platform combining satellite soil databases (ISRIC SoilGrids), NASA POWER meteorology, and lab directories to offer real-time optimization simulations.</a:t>
            </a:r>
          </a:p>
        </p:txBody>
      </p:sp>
      <p:sp>
        <p:nvSpPr>
          <p:cNvPr id="11" name="Rectangle 10"/>
          <p:cNvSpPr/>
          <p:nvPr/>
        </p:nvSpPr>
        <p:spPr>
          <a:xfrm>
            <a:off x="7863840" y="1645920"/>
            <a:ext cx="338328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System Architecture &amp; Integration Pipeline</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4</a:t>
            </a:r>
          </a:p>
        </p:txBody>
      </p:sp>
      <p:sp>
        <p:nvSpPr>
          <p:cNvPr id="6" name="Rounded Rectangle 5"/>
          <p:cNvSpPr/>
          <p:nvPr/>
        </p:nvSpPr>
        <p:spPr>
          <a:xfrm>
            <a:off x="731520" y="2011680"/>
            <a:ext cx="246888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31520" lIns="137160" rIns="137160"/>
          <a:lstStyle/>
          <a:p>
            <a:pPr algn="ctr">
              <a:lnSpc>
                <a:spcPct val="130000"/>
              </a:lnSpc>
              <a:defRPr sz="1300">
                <a:solidFill>
                  <a:srgbClr val="1E293B"/>
                </a:solidFill>
              </a:defRPr>
            </a:pPr>
            <a:r>
              <a:t>District Selector</a:t>
            </a:r>
            <a:br/>
            <a:r>
              <a:t>Map Coordinate Pin</a:t>
            </a:r>
            <a:br/>
            <a:r>
              <a:t>Manual Override</a:t>
            </a:r>
          </a:p>
        </p:txBody>
      </p:sp>
      <p:sp>
        <p:nvSpPr>
          <p:cNvPr id="7" name="Rectangle 6"/>
          <p:cNvSpPr/>
          <p:nvPr/>
        </p:nvSpPr>
        <p:spPr>
          <a:xfrm>
            <a:off x="731520" y="2011680"/>
            <a:ext cx="2468880"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1. USER INPUTS</a:t>
            </a:r>
          </a:p>
        </p:txBody>
      </p:sp>
      <p:sp>
        <p:nvSpPr>
          <p:cNvPr id="8" name="Rounded Rectangle 7"/>
          <p:cNvSpPr/>
          <p:nvPr/>
        </p:nvSpPr>
        <p:spPr>
          <a:xfrm>
            <a:off x="3474720" y="2011680"/>
            <a:ext cx="246888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31520" lIns="137160" rIns="137160"/>
          <a:lstStyle/>
          <a:p>
            <a:pPr algn="ctr">
              <a:lnSpc>
                <a:spcPct val="130000"/>
              </a:lnSpc>
              <a:defRPr sz="1300">
                <a:solidFill>
                  <a:srgbClr val="1E293B"/>
                </a:solidFill>
              </a:defRPr>
            </a:pPr>
            <a:r>
              <a:t>NASA POWER API</a:t>
            </a:r>
            <a:br/>
            <a:r>
              <a:t>ISRIC SoilGrids API</a:t>
            </a:r>
            <a:br/>
            <a:r>
              <a:t>AIKosh Lab Directory</a:t>
            </a:r>
          </a:p>
        </p:txBody>
      </p:sp>
      <p:sp>
        <p:nvSpPr>
          <p:cNvPr id="9" name="Rectangle 8"/>
          <p:cNvSpPr/>
          <p:nvPr/>
        </p:nvSpPr>
        <p:spPr>
          <a:xfrm>
            <a:off x="3474720" y="2011680"/>
            <a:ext cx="2468880" cy="5486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2. APIs &amp; DIRECTORY</a:t>
            </a:r>
          </a:p>
        </p:txBody>
      </p:sp>
      <p:sp>
        <p:nvSpPr>
          <p:cNvPr id="10" name="Rounded Rectangle 9"/>
          <p:cNvSpPr/>
          <p:nvPr/>
        </p:nvSpPr>
        <p:spPr>
          <a:xfrm>
            <a:off x="6217920" y="2011680"/>
            <a:ext cx="246888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31520" lIns="137160" rIns="137160"/>
          <a:lstStyle/>
          <a:p>
            <a:pPr algn="ctr">
              <a:lnSpc>
                <a:spcPct val="130000"/>
              </a:lnSpc>
              <a:defRPr sz="1300">
                <a:solidFill>
                  <a:srgbClr val="1E293B"/>
                </a:solidFill>
              </a:defRPr>
            </a:pPr>
            <a:r>
              <a:t>FastAPI API endpoint</a:t>
            </a:r>
            <a:br/>
            <a:r>
              <a:t>XGBoost Pipeline</a:t>
            </a:r>
            <a:br/>
            <a:r>
              <a:t>Standardized Scale/Encode</a:t>
            </a:r>
          </a:p>
        </p:txBody>
      </p:sp>
      <p:sp>
        <p:nvSpPr>
          <p:cNvPr id="11" name="Rectangle 10"/>
          <p:cNvSpPr/>
          <p:nvPr/>
        </p:nvSpPr>
        <p:spPr>
          <a:xfrm>
            <a:off x="6217920" y="2011680"/>
            <a:ext cx="2468880" cy="5486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3. ML INFERENCE</a:t>
            </a:r>
          </a:p>
        </p:txBody>
      </p:sp>
      <p:sp>
        <p:nvSpPr>
          <p:cNvPr id="12" name="Rounded Rectangle 11"/>
          <p:cNvSpPr/>
          <p:nvPr/>
        </p:nvSpPr>
        <p:spPr>
          <a:xfrm>
            <a:off x="8961120" y="2011680"/>
            <a:ext cx="246888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31520" lIns="137160" rIns="137160"/>
          <a:lstStyle/>
          <a:p>
            <a:pPr algn="ctr">
              <a:lnSpc>
                <a:spcPct val="130000"/>
              </a:lnSpc>
              <a:defRPr sz="1300">
                <a:solidFill>
                  <a:srgbClr val="1E293B"/>
                </a:solidFill>
              </a:defRPr>
            </a:pPr>
            <a:r>
              <a:t>Carbon Footprint</a:t>
            </a:r>
            <a:br/>
            <a:r>
              <a:t>Sustainability rating</a:t>
            </a:r>
            <a:br/>
            <a:r>
              <a:t>What-If Simulator</a:t>
            </a:r>
          </a:p>
        </p:txBody>
      </p:sp>
      <p:sp>
        <p:nvSpPr>
          <p:cNvPr id="13" name="Rectangle 12"/>
          <p:cNvSpPr/>
          <p:nvPr/>
        </p:nvSpPr>
        <p:spPr>
          <a:xfrm>
            <a:off x="8961120" y="2011680"/>
            <a:ext cx="2468880"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defRPr>
            </a:pPr>
            <a:r>
              <a:t>4. RESULTS ENGINE</a:t>
            </a:r>
          </a:p>
        </p:txBody>
      </p:sp>
      <p:sp>
        <p:nvSpPr>
          <p:cNvPr id="14" name="Right Arrow 13"/>
          <p:cNvSpPr/>
          <p:nvPr/>
        </p:nvSpPr>
        <p:spPr>
          <a:xfrm>
            <a:off x="3246120" y="338328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989320" y="338328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8732520" y="338328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Data Provenance &amp; Cleaning Process</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5</a:t>
            </a:r>
          </a:p>
        </p:txBody>
      </p:sp>
      <p:sp>
        <p:nvSpPr>
          <p:cNvPr id="6" name="TextBox 5"/>
          <p:cNvSpPr txBox="1"/>
          <p:nvPr/>
        </p:nvSpPr>
        <p:spPr>
          <a:xfrm>
            <a:off x="731520" y="1371600"/>
            <a:ext cx="5303520" cy="4572000"/>
          </a:xfrm>
          <a:prstGeom prst="rect">
            <a:avLst/>
          </a:prstGeom>
          <a:noFill/>
        </p:spPr>
        <p:txBody>
          <a:bodyPr wrap="square">
            <a:spAutoFit/>
          </a:bodyPr>
          <a:lstStyle/>
          <a:p>
            <a:pPr>
              <a:spcAft>
                <a:spcPts val="1200"/>
              </a:spcAft>
              <a:defRPr b="1" sz="1800">
                <a:solidFill>
                  <a:srgbClr val="1E293B"/>
                </a:solidFill>
              </a:defRPr>
            </a:pPr>
            <a:r>
              <a:t>Dataset Composition &amp; Origin</a:t>
            </a:r>
          </a:p>
          <a:p>
            <a:pPr>
              <a:spcBef>
                <a:spcPts val="800"/>
              </a:spcBef>
              <a:defRPr sz="1250">
                <a:solidFill>
                  <a:srgbClr val="1E293B"/>
                </a:solidFill>
              </a:defRPr>
            </a:pPr>
            <a:r>
              <a:t>• Chitradurga Real Soil Cards: Sourced 17,785 real chemical soil samples from Challakere Taluk, providing empirical baseline metrics (avl_n, avl_p, avl_k, avl_oc, ph).</a:t>
            </a:r>
          </a:p>
          <a:p>
            <a:pPr>
              <a:spcBef>
                <a:spcPts val="800"/>
              </a:spcBef>
              <a:defRPr sz="1250">
                <a:solidFill>
                  <a:srgbClr val="1E293B"/>
                </a:solidFill>
              </a:defRPr>
            </a:pPr>
            <a:r>
              <a:t>• Imputation &amp; Cleanup: Missing chemical values were imputed using column-wise averages and clipped to realistic physical thresholds (e.g. pH strictly in [4.5, 8.5]).</a:t>
            </a:r>
          </a:p>
          <a:p>
            <a:pPr>
              <a:spcBef>
                <a:spcPts val="800"/>
              </a:spcBef>
              <a:defRPr sz="1250">
                <a:solidFill>
                  <a:srgbClr val="1E293B"/>
                </a:solidFill>
              </a:defRPr>
            </a:pPr>
            <a:r>
              <a:t>• District Synthesis: Generated 2,000 synthesized records per district across 10 other priority Karnataka districts using Gaussian distributions based on official soil health card reports.</a:t>
            </a:r>
          </a:p>
          <a:p>
            <a:pPr>
              <a:spcBef>
                <a:spcPts val="800"/>
              </a:spcBef>
              <a:defRPr sz="1250">
                <a:solidFill>
                  <a:srgbClr val="1E293B"/>
                </a:solidFill>
              </a:defRPr>
            </a:pPr>
            <a:r>
              <a:t>• External Mapped Data: Downloaded and structured agricultural dataset (originally crop recommendations) to expand baseline crop diversity.</a:t>
            </a:r>
          </a:p>
        </p:txBody>
      </p:sp>
      <p:graphicFrame>
        <p:nvGraphicFramePr>
          <p:cNvPr id="7" name="Table 6"/>
          <p:cNvGraphicFramePr>
            <a:graphicFrameLocks noGrp="1"/>
          </p:cNvGraphicFramePr>
          <p:nvPr/>
        </p:nvGraphicFramePr>
        <p:xfrm>
          <a:off x="6309360" y="1554480"/>
          <a:ext cx="5120640" cy="4114800"/>
        </p:xfrm>
        <a:graphic>
          <a:graphicData uri="http://schemas.openxmlformats.org/drawingml/2006/table">
            <a:tbl>
              <a:tblPr firstRow="1" bandRow="1">
                <a:tableStyleId>{5C22544A-7EE6-4342-B048-85BDC9FD1C3A}</a:tableStyleId>
              </a:tblPr>
              <a:tblGrid>
                <a:gridCol w="1280160"/>
                <a:gridCol w="1280160"/>
                <a:gridCol w="1280160"/>
                <a:gridCol w="1280160"/>
              </a:tblGrid>
              <a:tr h="685800">
                <a:tc>
                  <a:txBody>
                    <a:bodyPr/>
                    <a:lstStyle/>
                    <a:p>
                      <a:pPr algn="ctr">
                        <a:defRPr b="1" sz="1100">
                          <a:solidFill>
                            <a:srgbClr val="FFFFFF"/>
                          </a:solidFill>
                        </a:defRPr>
                      </a:pPr>
                      <a:r>
                        <a:t>Data Source</a:t>
                      </a:r>
                    </a:p>
                  </a:txBody>
                  <a:tcPr>
                    <a:solidFill>
                      <a:srgbClr val="0F172A"/>
                    </a:solidFill>
                  </a:tcPr>
                </a:tc>
                <a:tc>
                  <a:txBody>
                    <a:bodyPr/>
                    <a:lstStyle/>
                    <a:p>
                      <a:pPr algn="ctr">
                        <a:defRPr b="1" sz="1100">
                          <a:solidFill>
                            <a:srgbClr val="FFFFFF"/>
                          </a:solidFill>
                        </a:defRPr>
                      </a:pPr>
                      <a:r>
                        <a:t>Type</a:t>
                      </a:r>
                    </a:p>
                  </a:txBody>
                  <a:tcPr>
                    <a:solidFill>
                      <a:srgbClr val="0F172A"/>
                    </a:solidFill>
                  </a:tcPr>
                </a:tc>
                <a:tc>
                  <a:txBody>
                    <a:bodyPr/>
                    <a:lstStyle/>
                    <a:p>
                      <a:pPr algn="ctr">
                        <a:defRPr b="1" sz="1100">
                          <a:solidFill>
                            <a:srgbClr val="FFFFFF"/>
                          </a:solidFill>
                        </a:defRPr>
                      </a:pPr>
                      <a:r>
                        <a:t>Records</a:t>
                      </a:r>
                    </a:p>
                  </a:txBody>
                  <a:tcPr>
                    <a:solidFill>
                      <a:srgbClr val="0F172A"/>
                    </a:solidFill>
                  </a:tcPr>
                </a:tc>
                <a:tc>
                  <a:txBody>
                    <a:bodyPr/>
                    <a:lstStyle/>
                    <a:p>
                      <a:pPr algn="ctr">
                        <a:defRPr b="1" sz="1100">
                          <a:solidFill>
                            <a:srgbClr val="FFFFFF"/>
                          </a:solidFill>
                        </a:defRPr>
                      </a:pPr>
                      <a:r>
                        <a:t>Percentage</a:t>
                      </a:r>
                    </a:p>
                  </a:txBody>
                  <a:tcPr>
                    <a:solidFill>
                      <a:srgbClr val="0F172A"/>
                    </a:solidFill>
                  </a:tcPr>
                </a:tc>
              </a:tr>
              <a:tr h="685800">
                <a:tc>
                  <a:txBody>
                    <a:bodyPr/>
                    <a:lstStyle/>
                    <a:p>
                      <a:pPr algn="ctr">
                        <a:defRPr sz="1000">
                          <a:solidFill>
                            <a:srgbClr val="1E293B"/>
                          </a:solidFill>
                        </a:defRPr>
                      </a:pPr>
                      <a:r>
                        <a:t>Chitradurga</a:t>
                      </a:r>
                    </a:p>
                  </a:txBody>
                  <a:tcPr>
                    <a:solidFill>
                      <a:srgbClr val="FFFFFF"/>
                    </a:solidFill>
                  </a:tcPr>
                </a:tc>
                <a:tc>
                  <a:txBody>
                    <a:bodyPr/>
                    <a:lstStyle/>
                    <a:p>
                      <a:pPr algn="ctr">
                        <a:defRPr sz="1000">
                          <a:solidFill>
                            <a:srgbClr val="1E293B"/>
                          </a:solidFill>
                        </a:defRPr>
                      </a:pPr>
                      <a:r>
                        <a:t>Real Soil Samples</a:t>
                      </a:r>
                    </a:p>
                  </a:txBody>
                  <a:tcPr>
                    <a:solidFill>
                      <a:srgbClr val="FFFFFF"/>
                    </a:solidFill>
                  </a:tcPr>
                </a:tc>
                <a:tc>
                  <a:txBody>
                    <a:bodyPr/>
                    <a:lstStyle/>
                    <a:p>
                      <a:pPr algn="ctr">
                        <a:defRPr sz="1000">
                          <a:solidFill>
                            <a:srgbClr val="1E293B"/>
                          </a:solidFill>
                        </a:defRPr>
                      </a:pPr>
                      <a:r>
                        <a:t>17,785</a:t>
                      </a:r>
                    </a:p>
                  </a:txBody>
                  <a:tcPr>
                    <a:solidFill>
                      <a:srgbClr val="FFFFFF"/>
                    </a:solidFill>
                  </a:tcPr>
                </a:tc>
                <a:tc>
                  <a:txBody>
                    <a:bodyPr/>
                    <a:lstStyle/>
                    <a:p>
                      <a:pPr algn="ctr">
                        <a:defRPr sz="1000">
                          <a:solidFill>
                            <a:srgbClr val="1E293B"/>
                          </a:solidFill>
                        </a:defRPr>
                      </a:pPr>
                      <a:r>
                        <a:t>47.2%</a:t>
                      </a:r>
                    </a:p>
                  </a:txBody>
                  <a:tcPr>
                    <a:solidFill>
                      <a:srgbClr val="FFFFFF"/>
                    </a:solidFill>
                  </a:tcPr>
                </a:tc>
              </a:tr>
              <a:tr h="685800">
                <a:tc>
                  <a:txBody>
                    <a:bodyPr/>
                    <a:lstStyle/>
                    <a:p>
                      <a:pPr algn="ctr">
                        <a:defRPr sz="1000">
                          <a:solidFill>
                            <a:srgbClr val="1E293B"/>
                          </a:solidFill>
                        </a:defRPr>
                      </a:pPr>
                      <a:r>
                        <a:t>Synthesized Districts</a:t>
                      </a:r>
                    </a:p>
                  </a:txBody>
                  <a:tcPr>
                    <a:solidFill>
                      <a:srgbClr val="F1F5F9"/>
                    </a:solidFill>
                  </a:tcPr>
                </a:tc>
                <a:tc>
                  <a:txBody>
                    <a:bodyPr/>
                    <a:lstStyle/>
                    <a:p>
                      <a:pPr algn="ctr">
                        <a:defRPr sz="1000">
                          <a:solidFill>
                            <a:srgbClr val="1E293B"/>
                          </a:solidFill>
                        </a:defRPr>
                      </a:pPr>
                      <a:r>
                        <a:t>Gaussian Mapped</a:t>
                      </a:r>
                    </a:p>
                  </a:txBody>
                  <a:tcPr>
                    <a:solidFill>
                      <a:srgbClr val="F1F5F9"/>
                    </a:solidFill>
                  </a:tcPr>
                </a:tc>
                <a:tc>
                  <a:txBody>
                    <a:bodyPr/>
                    <a:lstStyle/>
                    <a:p>
                      <a:pPr algn="ctr">
                        <a:defRPr sz="1000">
                          <a:solidFill>
                            <a:srgbClr val="1E293B"/>
                          </a:solidFill>
                        </a:defRPr>
                      </a:pPr>
                      <a:r>
                        <a:t>20,000</a:t>
                      </a:r>
                    </a:p>
                  </a:txBody>
                  <a:tcPr>
                    <a:solidFill>
                      <a:srgbClr val="F1F5F9"/>
                    </a:solidFill>
                  </a:tcPr>
                </a:tc>
                <a:tc>
                  <a:txBody>
                    <a:bodyPr/>
                    <a:lstStyle/>
                    <a:p>
                      <a:pPr algn="ctr">
                        <a:defRPr sz="1000">
                          <a:solidFill>
                            <a:srgbClr val="1E293B"/>
                          </a:solidFill>
                        </a:defRPr>
                      </a:pPr>
                      <a:r>
                        <a:t>52.8%</a:t>
                      </a:r>
                    </a:p>
                  </a:txBody>
                  <a:tcPr>
                    <a:solidFill>
                      <a:srgbClr val="F1F5F9"/>
                    </a:solidFill>
                  </a:tcPr>
                </a:tc>
              </a:tr>
              <a:tr h="685800">
                <a:tc>
                  <a:txBody>
                    <a:bodyPr/>
                    <a:lstStyle/>
                    <a:p>
                      <a:pPr algn="ctr">
                        <a:defRPr sz="1000">
                          <a:solidFill>
                            <a:srgbClr val="1E293B"/>
                          </a:solidFill>
                        </a:defRPr>
                      </a:pPr>
                      <a:r>
                        <a:t>Total Training</a:t>
                      </a:r>
                    </a:p>
                  </a:txBody>
                  <a:tcPr>
                    <a:solidFill>
                      <a:srgbClr val="D1FAE5"/>
                    </a:solidFill>
                  </a:tcPr>
                </a:tc>
                <a:tc>
                  <a:txBody>
                    <a:bodyPr/>
                    <a:lstStyle/>
                    <a:p>
                      <a:pPr algn="ctr">
                        <a:defRPr sz="1000">
                          <a:solidFill>
                            <a:srgbClr val="1E293B"/>
                          </a:solidFill>
                        </a:defRPr>
                      </a:pPr>
                      <a:r>
                        <a:t>Hybrid Compiled</a:t>
                      </a:r>
                    </a:p>
                  </a:txBody>
                  <a:tcPr>
                    <a:solidFill>
                      <a:srgbClr val="D1FAE5"/>
                    </a:solidFill>
                  </a:tcPr>
                </a:tc>
                <a:tc>
                  <a:txBody>
                    <a:bodyPr/>
                    <a:lstStyle/>
                    <a:p>
                      <a:pPr algn="ctr">
                        <a:defRPr sz="1000">
                          <a:solidFill>
                            <a:srgbClr val="1E293B"/>
                          </a:solidFill>
                        </a:defRPr>
                      </a:pPr>
                      <a:r>
                        <a:t>37,785</a:t>
                      </a:r>
                    </a:p>
                  </a:txBody>
                  <a:tcPr>
                    <a:solidFill>
                      <a:srgbClr val="D1FAE5"/>
                    </a:solidFill>
                  </a:tcPr>
                </a:tc>
                <a:tc>
                  <a:txBody>
                    <a:bodyPr/>
                    <a:lstStyle/>
                    <a:p>
                      <a:pPr algn="ctr">
                        <a:defRPr sz="1000">
                          <a:solidFill>
                            <a:srgbClr val="1E293B"/>
                          </a:solidFill>
                        </a:defRPr>
                      </a:pPr>
                      <a:r>
                        <a:t>100.0%</a:t>
                      </a:r>
                    </a:p>
                  </a:txBody>
                  <a:tcPr>
                    <a:solidFill>
                      <a:srgbClr val="D1FAE5"/>
                    </a:solidFill>
                  </a:tcPr>
                </a:tc>
              </a:tr>
              <a:tr h="685800">
                <a:tc>
                  <a:txBody>
                    <a:bodyPr/>
                    <a:lstStyle/>
                    <a:p>
                      <a:pPr algn="ctr">
                        <a:defRPr sz="1000">
                          <a:solidFill>
                            <a:srgbClr val="1E293B"/>
                          </a:solidFill>
                        </a:defRPr>
                      </a:pPr>
                      <a:r>
                        <a:t>SOC Boundary</a:t>
                      </a:r>
                    </a:p>
                  </a:txBody>
                  <a:tcPr>
                    <a:solidFill>
                      <a:srgbClr val="F1F5F9"/>
                    </a:solidFill>
                  </a:tcPr>
                </a:tc>
                <a:tc>
                  <a:txBody>
                    <a:bodyPr/>
                    <a:lstStyle/>
                    <a:p>
                      <a:pPr algn="ctr">
                        <a:defRPr sz="1000">
                          <a:solidFill>
                            <a:srgbClr val="1E293B"/>
                          </a:solidFill>
                        </a:defRPr>
                      </a:pPr>
                      <a:r>
                        <a:t>Clipped Range</a:t>
                      </a:r>
                    </a:p>
                  </a:txBody>
                  <a:tcPr>
                    <a:solidFill>
                      <a:srgbClr val="F1F5F9"/>
                    </a:solidFill>
                  </a:tcPr>
                </a:tc>
                <a:tc>
                  <a:txBody>
                    <a:bodyPr/>
                    <a:lstStyle/>
                    <a:p>
                      <a:pPr algn="ctr">
                        <a:defRPr sz="1000">
                          <a:solidFill>
                            <a:srgbClr val="1E293B"/>
                          </a:solidFill>
                        </a:defRPr>
                      </a:pPr>
                      <a:r>
                        <a:t>0.5% - 5.0%</a:t>
                      </a:r>
                    </a:p>
                  </a:txBody>
                  <a:tcPr>
                    <a:solidFill>
                      <a:srgbClr val="F1F5F9"/>
                    </a:solidFill>
                  </a:tcPr>
                </a:tc>
                <a:tc>
                  <a:txBody>
                    <a:bodyPr/>
                    <a:lstStyle/>
                    <a:p>
                      <a:pPr algn="ctr">
                        <a:defRPr sz="1000">
                          <a:solidFill>
                            <a:srgbClr val="1E293B"/>
                          </a:solidFill>
                        </a:defRPr>
                      </a:pPr>
                      <a:r>
                        <a:t>N/A</a:t>
                      </a:r>
                    </a:p>
                  </a:txBody>
                  <a:tcPr>
                    <a:solidFill>
                      <a:srgbClr val="F1F5F9"/>
                    </a:solidFill>
                  </a:tcPr>
                </a:tc>
              </a:tr>
              <a:tr h="685800">
                <a:tc>
                  <a:txBody>
                    <a:bodyPr/>
                    <a:lstStyle/>
                    <a:p>
                      <a:pPr algn="ctr">
                        <a:defRPr sz="1000">
                          <a:solidFill>
                            <a:srgbClr val="1E293B"/>
                          </a:solidFill>
                        </a:defRPr>
                      </a:pPr>
                      <a:r>
                        <a:t>pH Boundary</a:t>
                      </a:r>
                    </a:p>
                  </a:txBody>
                  <a:tcPr>
                    <a:solidFill>
                      <a:srgbClr val="FFFFFF"/>
                    </a:solidFill>
                  </a:tcPr>
                </a:tc>
                <a:tc>
                  <a:txBody>
                    <a:bodyPr/>
                    <a:lstStyle/>
                    <a:p>
                      <a:pPr algn="ctr">
                        <a:defRPr sz="1000">
                          <a:solidFill>
                            <a:srgbClr val="1E293B"/>
                          </a:solidFill>
                        </a:defRPr>
                      </a:pPr>
                      <a:r>
                        <a:t>Clipped Range</a:t>
                      </a:r>
                    </a:p>
                  </a:txBody>
                  <a:tcPr>
                    <a:solidFill>
                      <a:srgbClr val="FFFFFF"/>
                    </a:solidFill>
                  </a:tcPr>
                </a:tc>
                <a:tc>
                  <a:txBody>
                    <a:bodyPr/>
                    <a:lstStyle/>
                    <a:p>
                      <a:pPr algn="ctr">
                        <a:defRPr sz="1000">
                          <a:solidFill>
                            <a:srgbClr val="1E293B"/>
                          </a:solidFill>
                        </a:defRPr>
                      </a:pPr>
                      <a:r>
                        <a:t>4.5 - 8.5</a:t>
                      </a:r>
                    </a:p>
                  </a:txBody>
                  <a:tcPr>
                    <a:solidFill>
                      <a:srgbClr val="FFFFFF"/>
                    </a:solidFill>
                  </a:tcPr>
                </a:tc>
                <a:tc>
                  <a:txBody>
                    <a:bodyPr/>
                    <a:lstStyle/>
                    <a:p>
                      <a:pPr algn="ctr">
                        <a:defRPr sz="1000">
                          <a:solidFill>
                            <a:srgbClr val="1E293B"/>
                          </a:solidFill>
                        </a:defRPr>
                      </a:pPr>
                      <a:r>
                        <a:t>N/A</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Machine Learning Preprocessing &amp; Pipeline</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6</a:t>
            </a:r>
          </a:p>
        </p:txBody>
      </p:sp>
      <p:sp>
        <p:nvSpPr>
          <p:cNvPr id="6" name="Rounded Rectangle 5"/>
          <p:cNvSpPr/>
          <p:nvPr/>
        </p:nvSpPr>
        <p:spPr>
          <a:xfrm>
            <a:off x="1097280" y="1371600"/>
            <a:ext cx="996696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b="1" sz="1400">
                <a:solidFill>
                  <a:srgbClr val="1E293B"/>
                </a:solidFill>
              </a:defRPr>
            </a:pPr>
            <a:r>
              <a:t>1. Input Features (11 features)</a:t>
            </a:r>
          </a:p>
          <a:p>
            <a:pPr>
              <a:spcBef>
                <a:spcPts val="600"/>
              </a:spcBef>
              <a:defRPr sz="1100">
                <a:solidFill>
                  <a:srgbClr val="64748B"/>
                </a:solidFill>
              </a:defRPr>
            </a:pPr>
            <a:r>
              <a:t>Numerical (9): SOC, N, P, K, pH, Fertilizer Amount, Temp, Rain, Humidity.</a:t>
            </a:r>
            <a:br/>
            <a:r>
              <a:t>Categorical (2): Crop Type, Fertilizer Type.</a:t>
            </a:r>
          </a:p>
        </p:txBody>
      </p:sp>
      <p:sp>
        <p:nvSpPr>
          <p:cNvPr id="7" name="Rectangle 6"/>
          <p:cNvSpPr/>
          <p:nvPr/>
        </p:nvSpPr>
        <p:spPr>
          <a:xfrm>
            <a:off x="1097280" y="1371600"/>
            <a:ext cx="274320"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wn Arrow 7"/>
          <p:cNvSpPr/>
          <p:nvPr/>
        </p:nvSpPr>
        <p:spPr>
          <a:xfrm>
            <a:off x="5943600" y="2697480"/>
            <a:ext cx="182880" cy="2286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2971800"/>
            <a:ext cx="996696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b="1" sz="1400">
                <a:solidFill>
                  <a:srgbClr val="1E293B"/>
                </a:solidFill>
              </a:defRPr>
            </a:pPr>
            <a:r>
              <a:t>2. ColumnTransformer Pipeline</a:t>
            </a:r>
          </a:p>
          <a:p>
            <a:pPr>
              <a:spcBef>
                <a:spcPts val="600"/>
              </a:spcBef>
              <a:defRPr sz="1100">
                <a:solidFill>
                  <a:srgbClr val="64748B"/>
                </a:solidFill>
              </a:defRPr>
            </a:pPr>
            <a:r>
              <a:t>StandardScaler applied to scale all numerical ranges to zero-mean and unit-variance.</a:t>
            </a:r>
            <a:br/>
            <a:r>
              <a:t>OneHotEncoder (handle_unknown='ignore') applied to categorical variables.</a:t>
            </a:r>
          </a:p>
        </p:txBody>
      </p:sp>
      <p:sp>
        <p:nvSpPr>
          <p:cNvPr id="10" name="Rectangle 9"/>
          <p:cNvSpPr/>
          <p:nvPr/>
        </p:nvSpPr>
        <p:spPr>
          <a:xfrm>
            <a:off x="1097280" y="2971800"/>
            <a:ext cx="274320"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43600" y="4297680"/>
            <a:ext cx="182880" cy="2286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7280" y="4572000"/>
            <a:ext cx="996696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defRPr b="1" sz="1400">
                <a:solidFill>
                  <a:srgbClr val="1E293B"/>
                </a:solidFill>
              </a:defRPr>
            </a:pPr>
            <a:r>
              <a:t>3. Model Training &amp; Selection</a:t>
            </a:r>
          </a:p>
          <a:p>
            <a:pPr>
              <a:spcBef>
                <a:spcPts val="600"/>
              </a:spcBef>
              <a:defRPr sz="1100">
                <a:solidFill>
                  <a:srgbClr val="64748B"/>
                </a:solidFill>
              </a:defRPr>
            </a:pPr>
            <a:r>
              <a:t>Trained multiple estimators: Linear Regression (Baseline), Random Forest, XGBoost Regressor.</a:t>
            </a:r>
            <a:br/>
            <a:r>
              <a:t>Hyperparameters tuned via GridSearch (learning_rate=0.07, max_depth=6, n_estimators=300).</a:t>
            </a:r>
          </a:p>
        </p:txBody>
      </p:sp>
      <p:sp>
        <p:nvSpPr>
          <p:cNvPr id="13" name="Rectangle 12"/>
          <p:cNvSpPr/>
          <p:nvPr/>
        </p:nvSpPr>
        <p:spPr>
          <a:xfrm>
            <a:off x="1097280" y="4572000"/>
            <a:ext cx="274320" cy="1280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Experimental Results &amp; Model Evaluation</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7</a:t>
            </a:r>
          </a:p>
        </p:txBody>
      </p:sp>
      <p:sp>
        <p:nvSpPr>
          <p:cNvPr id="6" name="TextBox 5"/>
          <p:cNvSpPr txBox="1"/>
          <p:nvPr/>
        </p:nvSpPr>
        <p:spPr>
          <a:xfrm>
            <a:off x="731520" y="1371600"/>
            <a:ext cx="5303520" cy="4572000"/>
          </a:xfrm>
          <a:prstGeom prst="rect">
            <a:avLst/>
          </a:prstGeom>
          <a:noFill/>
        </p:spPr>
        <p:txBody>
          <a:bodyPr wrap="square">
            <a:spAutoFit/>
          </a:bodyPr>
          <a:lstStyle/>
          <a:p>
            <a:pPr>
              <a:spcAft>
                <a:spcPts val="1400"/>
              </a:spcAft>
              <a:defRPr b="1" sz="1800">
                <a:solidFill>
                  <a:srgbClr val="1E293B"/>
                </a:solidFill>
              </a:defRPr>
            </a:pPr>
            <a:r>
              <a:t>Key Performance Findings</a:t>
            </a:r>
          </a:p>
          <a:p>
            <a:pPr>
              <a:spcBef>
                <a:spcPts val="1000"/>
              </a:spcBef>
              <a:defRPr sz="1200">
                <a:solidFill>
                  <a:srgbClr val="1E293B"/>
                </a:solidFill>
              </a:defRPr>
            </a:pPr>
            <a:r>
              <a:t>• Non-Linear superiority: Trees significantly outperform Linear Regression. The baseline Linear model achieved an R² of 0.9689, whereas XGBoost reached 0.9966.</a:t>
            </a:r>
          </a:p>
          <a:p>
            <a:pPr>
              <a:spcBef>
                <a:spcPts val="1000"/>
              </a:spcBef>
              <a:defRPr sz="1200">
                <a:solidFill>
                  <a:srgbClr val="1E293B"/>
                </a:solidFill>
              </a:defRPr>
            </a:pPr>
            <a:r>
              <a:t>• Why XGBoost Wins: The physical carbon emissions model features highly non-linear interactions, such as pH anomalies behaving quadratically, and multiplicative crop-fertilizer baselines.</a:t>
            </a:r>
          </a:p>
          <a:p>
            <a:pPr>
              <a:spcBef>
                <a:spcPts val="1000"/>
              </a:spcBef>
              <a:defRPr sz="1200">
                <a:solidFill>
                  <a:srgbClr val="1E293B"/>
                </a:solidFill>
              </a:defRPr>
            </a:pPr>
            <a:r>
              <a:t>• Error Reduction: Tuning XGBoost parameters (learning rate and depth) reduced Mean Absolute Error (MAE) from 22.43 kg/ha to 21.36 kg/ha, minimizing footprint prediction discrepancies.</a:t>
            </a:r>
          </a:p>
        </p:txBody>
      </p:sp>
      <p:graphicFrame>
        <p:nvGraphicFramePr>
          <p:cNvPr id="7" name="Table 6"/>
          <p:cNvGraphicFramePr>
            <a:graphicFrameLocks noGrp="1"/>
          </p:cNvGraphicFramePr>
          <p:nvPr/>
        </p:nvGraphicFramePr>
        <p:xfrm>
          <a:off x="6217920" y="1645920"/>
          <a:ext cx="5212080" cy="3840480"/>
        </p:xfrm>
        <a:graphic>
          <a:graphicData uri="http://schemas.openxmlformats.org/drawingml/2006/table">
            <a:tbl>
              <a:tblPr firstRow="1" bandRow="1">
                <a:tableStyleId>{5C22544A-7EE6-4342-B048-85BDC9FD1C3A}</a:tableStyleId>
              </a:tblPr>
              <a:tblGrid>
                <a:gridCol w="1303020"/>
                <a:gridCol w="1303020"/>
                <a:gridCol w="1303020"/>
                <a:gridCol w="1303020"/>
              </a:tblGrid>
              <a:tr h="768096">
                <a:tc>
                  <a:txBody>
                    <a:bodyPr/>
                    <a:lstStyle/>
                    <a:p>
                      <a:pPr algn="ctr">
                        <a:defRPr b="1" sz="1100">
                          <a:solidFill>
                            <a:srgbClr val="FFFFFF"/>
                          </a:solidFill>
                        </a:defRPr>
                      </a:pPr>
                      <a:r>
                        <a:t>Model Config</a:t>
                      </a:r>
                    </a:p>
                  </a:txBody>
                  <a:tcPr>
                    <a:solidFill>
                      <a:srgbClr val="0F172A"/>
                    </a:solidFill>
                  </a:tcPr>
                </a:tc>
                <a:tc>
                  <a:txBody>
                    <a:bodyPr/>
                    <a:lstStyle/>
                    <a:p>
                      <a:pPr algn="ctr">
                        <a:defRPr b="1" sz="1100">
                          <a:solidFill>
                            <a:srgbClr val="FFFFFF"/>
                          </a:solidFill>
                        </a:defRPr>
                      </a:pPr>
                      <a:r>
                        <a:t>MAE (kg/ha)</a:t>
                      </a:r>
                    </a:p>
                  </a:txBody>
                  <a:tcPr>
                    <a:solidFill>
                      <a:srgbClr val="0F172A"/>
                    </a:solidFill>
                  </a:tcPr>
                </a:tc>
                <a:tc>
                  <a:txBody>
                    <a:bodyPr/>
                    <a:lstStyle/>
                    <a:p>
                      <a:pPr algn="ctr">
                        <a:defRPr b="1" sz="1100">
                          <a:solidFill>
                            <a:srgbClr val="FFFFFF"/>
                          </a:solidFill>
                        </a:defRPr>
                      </a:pPr>
                      <a:r>
                        <a:t>RMSE (kg/ha)</a:t>
                      </a:r>
                    </a:p>
                  </a:txBody>
                  <a:tcPr>
                    <a:solidFill>
                      <a:srgbClr val="0F172A"/>
                    </a:solidFill>
                  </a:tcPr>
                </a:tc>
                <a:tc>
                  <a:txBody>
                    <a:bodyPr/>
                    <a:lstStyle/>
                    <a:p>
                      <a:pPr algn="ctr">
                        <a:defRPr b="1" sz="1100">
                          <a:solidFill>
                            <a:srgbClr val="FFFFFF"/>
                          </a:solidFill>
                        </a:defRPr>
                      </a:pPr>
                      <a:r>
                        <a:t>R-squared (R²)</a:t>
                      </a:r>
                    </a:p>
                  </a:txBody>
                  <a:tcPr>
                    <a:solidFill>
                      <a:srgbClr val="0F172A"/>
                    </a:solidFill>
                  </a:tcPr>
                </a:tc>
              </a:tr>
              <a:tr h="768096">
                <a:tc>
                  <a:txBody>
                    <a:bodyPr/>
                    <a:lstStyle/>
                    <a:p>
                      <a:pPr algn="ctr">
                        <a:defRPr sz="1050">
                          <a:solidFill>
                            <a:srgbClr val="1E293B"/>
                          </a:solidFill>
                        </a:defRPr>
                      </a:pPr>
                      <a:r>
                        <a:t>Linear Regression</a:t>
                      </a:r>
                    </a:p>
                  </a:txBody>
                  <a:tcPr>
                    <a:solidFill>
                      <a:srgbClr val="FFFFFF"/>
                    </a:solidFill>
                  </a:tcPr>
                </a:tc>
                <a:tc>
                  <a:txBody>
                    <a:bodyPr/>
                    <a:lstStyle/>
                    <a:p>
                      <a:pPr algn="ctr">
                        <a:defRPr sz="1050">
                          <a:solidFill>
                            <a:srgbClr val="1E293B"/>
                          </a:solidFill>
                        </a:defRPr>
                      </a:pPr>
                      <a:r>
                        <a:t>59.58</a:t>
                      </a:r>
                    </a:p>
                  </a:txBody>
                  <a:tcPr>
                    <a:solidFill>
                      <a:srgbClr val="FFFFFF"/>
                    </a:solidFill>
                  </a:tcPr>
                </a:tc>
                <a:tc>
                  <a:txBody>
                    <a:bodyPr/>
                    <a:lstStyle/>
                    <a:p>
                      <a:pPr algn="ctr">
                        <a:defRPr sz="1050">
                          <a:solidFill>
                            <a:srgbClr val="1E293B"/>
                          </a:solidFill>
                        </a:defRPr>
                      </a:pPr>
                      <a:r>
                        <a:t>81.34</a:t>
                      </a:r>
                    </a:p>
                  </a:txBody>
                  <a:tcPr>
                    <a:solidFill>
                      <a:srgbClr val="FFFFFF"/>
                    </a:solidFill>
                  </a:tcPr>
                </a:tc>
                <a:tc>
                  <a:txBody>
                    <a:bodyPr/>
                    <a:lstStyle/>
                    <a:p>
                      <a:pPr algn="ctr">
                        <a:defRPr sz="1050">
                          <a:solidFill>
                            <a:srgbClr val="1E293B"/>
                          </a:solidFill>
                        </a:defRPr>
                      </a:pPr>
                      <a:r>
                        <a:t>0.9689</a:t>
                      </a:r>
                    </a:p>
                  </a:txBody>
                  <a:tcPr>
                    <a:solidFill>
                      <a:srgbClr val="FFFFFF"/>
                    </a:solidFill>
                  </a:tcPr>
                </a:tc>
              </a:tr>
              <a:tr h="768096">
                <a:tc>
                  <a:txBody>
                    <a:bodyPr/>
                    <a:lstStyle/>
                    <a:p>
                      <a:pPr algn="ctr">
                        <a:defRPr sz="1050">
                          <a:solidFill>
                            <a:srgbClr val="1E293B"/>
                          </a:solidFill>
                        </a:defRPr>
                      </a:pPr>
                      <a:r>
                        <a:t>Random Forest</a:t>
                      </a:r>
                    </a:p>
                  </a:txBody>
                  <a:tcPr>
                    <a:solidFill>
                      <a:srgbClr val="F1F5F9"/>
                    </a:solidFill>
                  </a:tcPr>
                </a:tc>
                <a:tc>
                  <a:txBody>
                    <a:bodyPr/>
                    <a:lstStyle/>
                    <a:p>
                      <a:pPr algn="ctr">
                        <a:defRPr sz="1050">
                          <a:solidFill>
                            <a:srgbClr val="1E293B"/>
                          </a:solidFill>
                        </a:defRPr>
                      </a:pPr>
                      <a:r>
                        <a:t>24.19</a:t>
                      </a:r>
                    </a:p>
                  </a:txBody>
                  <a:tcPr>
                    <a:solidFill>
                      <a:srgbClr val="F1F5F9"/>
                    </a:solidFill>
                  </a:tcPr>
                </a:tc>
                <a:tc>
                  <a:txBody>
                    <a:bodyPr/>
                    <a:lstStyle/>
                    <a:p>
                      <a:pPr algn="ctr">
                        <a:defRPr sz="1050">
                          <a:solidFill>
                            <a:srgbClr val="1E293B"/>
                          </a:solidFill>
                        </a:defRPr>
                      </a:pPr>
                      <a:r>
                        <a:t>31.26</a:t>
                      </a:r>
                    </a:p>
                  </a:txBody>
                  <a:tcPr>
                    <a:solidFill>
                      <a:srgbClr val="F1F5F9"/>
                    </a:solidFill>
                  </a:tcPr>
                </a:tc>
                <a:tc>
                  <a:txBody>
                    <a:bodyPr/>
                    <a:lstStyle/>
                    <a:p>
                      <a:pPr algn="ctr">
                        <a:defRPr sz="1050">
                          <a:solidFill>
                            <a:srgbClr val="1E293B"/>
                          </a:solidFill>
                        </a:defRPr>
                      </a:pPr>
                      <a:r>
                        <a:t>0.9954</a:t>
                      </a:r>
                    </a:p>
                  </a:txBody>
                  <a:tcPr>
                    <a:solidFill>
                      <a:srgbClr val="F1F5F9"/>
                    </a:solidFill>
                  </a:tcPr>
                </a:tc>
              </a:tr>
              <a:tr h="768096">
                <a:tc>
                  <a:txBody>
                    <a:bodyPr/>
                    <a:lstStyle/>
                    <a:p>
                      <a:pPr algn="ctr">
                        <a:defRPr sz="1050">
                          <a:solidFill>
                            <a:srgbClr val="1E293B"/>
                          </a:solidFill>
                        </a:defRPr>
                      </a:pPr>
                      <a:r>
                        <a:t>XGBoost (Default)</a:t>
                      </a:r>
                    </a:p>
                  </a:txBody>
                  <a:tcPr>
                    <a:solidFill>
                      <a:srgbClr val="FFFFFF"/>
                    </a:solidFill>
                  </a:tcPr>
                </a:tc>
                <a:tc>
                  <a:txBody>
                    <a:bodyPr/>
                    <a:lstStyle/>
                    <a:p>
                      <a:pPr algn="ctr">
                        <a:defRPr sz="1050">
                          <a:solidFill>
                            <a:srgbClr val="1E293B"/>
                          </a:solidFill>
                        </a:defRPr>
                      </a:pPr>
                      <a:r>
                        <a:t>22.43</a:t>
                      </a:r>
                    </a:p>
                  </a:txBody>
                  <a:tcPr>
                    <a:solidFill>
                      <a:srgbClr val="FFFFFF"/>
                    </a:solidFill>
                  </a:tcPr>
                </a:tc>
                <a:tc>
                  <a:txBody>
                    <a:bodyPr/>
                    <a:lstStyle/>
                    <a:p>
                      <a:pPr algn="ctr">
                        <a:defRPr sz="1050">
                          <a:solidFill>
                            <a:srgbClr val="1E293B"/>
                          </a:solidFill>
                        </a:defRPr>
                      </a:pPr>
                      <a:r>
                        <a:t>28.52</a:t>
                      </a:r>
                    </a:p>
                  </a:txBody>
                  <a:tcPr>
                    <a:solidFill>
                      <a:srgbClr val="FFFFFF"/>
                    </a:solidFill>
                  </a:tcPr>
                </a:tc>
                <a:tc>
                  <a:txBody>
                    <a:bodyPr/>
                    <a:lstStyle/>
                    <a:p>
                      <a:pPr algn="ctr">
                        <a:defRPr sz="1050">
                          <a:solidFill>
                            <a:srgbClr val="1E293B"/>
                          </a:solidFill>
                        </a:defRPr>
                      </a:pPr>
                      <a:r>
                        <a:t>0.9962</a:t>
                      </a:r>
                    </a:p>
                  </a:txBody>
                  <a:tcPr>
                    <a:solidFill>
                      <a:srgbClr val="FFFFFF"/>
                    </a:solidFill>
                  </a:tcPr>
                </a:tc>
              </a:tr>
              <a:tr h="768096">
                <a:tc>
                  <a:txBody>
                    <a:bodyPr/>
                    <a:lstStyle/>
                    <a:p>
                      <a:pPr algn="ctr">
                        <a:defRPr sz="1050" b="1">
                          <a:solidFill>
                            <a:srgbClr val="1E293B"/>
                          </a:solidFill>
                        </a:defRPr>
                      </a:pPr>
                      <a:r>
                        <a:t>XGBoost (Tuned)</a:t>
                      </a:r>
                    </a:p>
                  </a:txBody>
                  <a:tcPr>
                    <a:solidFill>
                      <a:srgbClr val="D1FAE5"/>
                    </a:solidFill>
                  </a:tcPr>
                </a:tc>
                <a:tc>
                  <a:txBody>
                    <a:bodyPr/>
                    <a:lstStyle/>
                    <a:p>
                      <a:pPr algn="ctr">
                        <a:defRPr sz="1050" b="1">
                          <a:solidFill>
                            <a:srgbClr val="1E293B"/>
                          </a:solidFill>
                        </a:defRPr>
                      </a:pPr>
                      <a:r>
                        <a:t>21.36</a:t>
                      </a:r>
                    </a:p>
                  </a:txBody>
                  <a:tcPr>
                    <a:solidFill>
                      <a:srgbClr val="D1FAE5"/>
                    </a:solidFill>
                  </a:tcPr>
                </a:tc>
                <a:tc>
                  <a:txBody>
                    <a:bodyPr/>
                    <a:lstStyle/>
                    <a:p>
                      <a:pPr algn="ctr">
                        <a:defRPr sz="1050" b="1">
                          <a:solidFill>
                            <a:srgbClr val="1E293B"/>
                          </a:solidFill>
                        </a:defRPr>
                      </a:pPr>
                      <a:r>
                        <a:t>27.06</a:t>
                      </a:r>
                    </a:p>
                  </a:txBody>
                  <a:tcPr>
                    <a:solidFill>
                      <a:srgbClr val="D1FAE5"/>
                    </a:solidFill>
                  </a:tcPr>
                </a:tc>
                <a:tc>
                  <a:txBody>
                    <a:bodyPr/>
                    <a:lstStyle/>
                    <a:p>
                      <a:pPr algn="ctr">
                        <a:defRPr sz="1050" b="1">
                          <a:solidFill>
                            <a:srgbClr val="1E293B"/>
                          </a:solidFill>
                        </a:defRPr>
                      </a:pPr>
                      <a:r>
                        <a:t>0.9966</a:t>
                      </a:r>
                    </a:p>
                  </a:txBody>
                  <a:tcPr>
                    <a:solidFill>
                      <a:srgbClr val="D1FAE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Core Features of the Web Application</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8</a:t>
            </a:r>
          </a:p>
        </p:txBody>
      </p:sp>
      <p:sp>
        <p:nvSpPr>
          <p:cNvPr id="6" name="Rounded Rectangle 5"/>
          <p:cNvSpPr/>
          <p:nvPr/>
        </p:nvSpPr>
        <p:spPr>
          <a:xfrm>
            <a:off x="731520" y="1645920"/>
            <a:ext cx="2468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0" lIns="137160" rIns="137160"/>
          <a:lstStyle/>
          <a:p>
            <a:pPr algn="ctr">
              <a:spcAft>
                <a:spcPts val="1000"/>
              </a:spcAft>
              <a:defRPr b="1" sz="1300">
                <a:solidFill>
                  <a:srgbClr val="1E293B"/>
                </a:solidFill>
              </a:defRPr>
            </a:pPr>
            <a:r>
              <a:t>🌍 Live Geocoding Map</a:t>
            </a:r>
          </a:p>
          <a:p>
            <a:pPr algn="ctr">
              <a:lnSpc>
                <a:spcPct val="130000"/>
              </a:lnSpc>
              <a:defRPr sz="1050">
                <a:solidFill>
                  <a:srgbClr val="64748B"/>
                </a:solidFill>
              </a:defRPr>
            </a:pPr>
            <a:r>
              <a:t>Integrates interactive Leaflet maps and Open-Meteo search to pinpoint exact latitudes and longitudes, automatically mapping the region's default district profile.</a:t>
            </a:r>
          </a:p>
        </p:txBody>
      </p:sp>
      <p:sp>
        <p:nvSpPr>
          <p:cNvPr id="7" name="Oval 6"/>
          <p:cNvSpPr/>
          <p:nvPr/>
        </p:nvSpPr>
        <p:spPr>
          <a:xfrm>
            <a:off x="1645920" y="1920240"/>
            <a:ext cx="640080" cy="6400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83280" y="1645920"/>
            <a:ext cx="2468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0" lIns="137160" rIns="137160"/>
          <a:lstStyle/>
          <a:p>
            <a:pPr algn="ctr">
              <a:spcAft>
                <a:spcPts val="1000"/>
              </a:spcAft>
              <a:defRPr b="1" sz="1300">
                <a:solidFill>
                  <a:srgbClr val="1E293B"/>
                </a:solidFill>
              </a:defRPr>
            </a:pPr>
            <a:r>
              <a:t>🧪 Hybrid Soil Database</a:t>
            </a:r>
          </a:p>
          <a:p>
            <a:pPr algn="ctr">
              <a:lnSpc>
                <a:spcPct val="130000"/>
              </a:lnSpc>
              <a:defRPr sz="1050">
                <a:solidFill>
                  <a:srgbClr val="64748B"/>
                </a:solidFill>
              </a:defRPr>
            </a:pPr>
            <a:r>
              <a:t>Auto-queries coordinates against the global ISRIC SoilGrids API for SOC and pH. If local soil cards are available, users can manually override values.</a:t>
            </a:r>
          </a:p>
        </p:txBody>
      </p:sp>
      <p:sp>
        <p:nvSpPr>
          <p:cNvPr id="9" name="Oval 8"/>
          <p:cNvSpPr/>
          <p:nvPr/>
        </p:nvSpPr>
        <p:spPr>
          <a:xfrm>
            <a:off x="4297680" y="1920240"/>
            <a:ext cx="640080" cy="6400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35040" y="1645920"/>
            <a:ext cx="2468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0" lIns="137160" rIns="137160"/>
          <a:lstStyle/>
          <a:p>
            <a:pPr algn="ctr">
              <a:spcAft>
                <a:spcPts val="1000"/>
              </a:spcAft>
              <a:defRPr b="1" sz="1300">
                <a:solidFill>
                  <a:srgbClr val="1E293B"/>
                </a:solidFill>
              </a:defRPr>
            </a:pPr>
            <a:r>
              <a:t>🌦️ Climatology Fetcher</a:t>
            </a:r>
          </a:p>
          <a:p>
            <a:pPr algn="ctr">
              <a:lnSpc>
                <a:spcPct val="130000"/>
              </a:lnSpc>
              <a:defRPr sz="1050">
                <a:solidFill>
                  <a:srgbClr val="64748B"/>
                </a:solidFill>
              </a:defRPr>
            </a:pPr>
            <a:r>
              <a:t>Queries the NASA POWER Climatology API to retrieve 30-year historical weather data (annual precipitation, humidity, temperature), bypassing manual input logs.</a:t>
            </a:r>
          </a:p>
        </p:txBody>
      </p:sp>
      <p:sp>
        <p:nvSpPr>
          <p:cNvPr id="11" name="Oval 10"/>
          <p:cNvSpPr/>
          <p:nvPr/>
        </p:nvSpPr>
        <p:spPr>
          <a:xfrm>
            <a:off x="6949440" y="1920240"/>
            <a:ext cx="640080" cy="6400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0" y="1645920"/>
            <a:ext cx="24688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0" lIns="137160" rIns="137160"/>
          <a:lstStyle/>
          <a:p>
            <a:pPr algn="ctr">
              <a:spcAft>
                <a:spcPts val="1000"/>
              </a:spcAft>
              <a:defRPr b="1" sz="1300">
                <a:solidFill>
                  <a:srgbClr val="1E293B"/>
                </a:solidFill>
              </a:defRPr>
            </a:pPr>
            <a:r>
              <a:t>🧬 Lab Proximity Finder</a:t>
            </a:r>
          </a:p>
          <a:p>
            <a:pPr algn="ctr">
              <a:lnSpc>
                <a:spcPct val="130000"/>
              </a:lnSpc>
              <a:defRPr sz="1050">
                <a:solidFill>
                  <a:srgbClr val="64748B"/>
                </a:solidFill>
              </a:defRPr>
            </a:pPr>
            <a:r>
              <a:t>Indexes 467 physical Indian Soil Testing Labs. Computes geodesic distances instantly using the Haversine formula to identify the nearest laboratory.</a:t>
            </a:r>
          </a:p>
        </p:txBody>
      </p:sp>
      <p:sp>
        <p:nvSpPr>
          <p:cNvPr id="13" name="Oval 12"/>
          <p:cNvSpPr/>
          <p:nvPr/>
        </p:nvSpPr>
        <p:spPr>
          <a:xfrm>
            <a:off x="9601200" y="1920240"/>
            <a:ext cx="640080" cy="64008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Sustainability Ratings &amp; Carbon Credits offset</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9</a:t>
            </a:r>
          </a:p>
        </p:txBody>
      </p:sp>
      <p:sp>
        <p:nvSpPr>
          <p:cNvPr id="6" name="Rounded Rectangle 5"/>
          <p:cNvSpPr/>
          <p:nvPr/>
        </p:nvSpPr>
        <p:spPr>
          <a:xfrm>
            <a:off x="73152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1E293B"/>
                </a:solidFill>
              </a:defRPr>
            </a:pPr>
            <a:r>
              <a:t>Sustainability Rating Categories</a:t>
            </a:r>
          </a:p>
          <a:p>
            <a:pPr>
              <a:spcBef>
                <a:spcPts val="800"/>
              </a:spcBef>
              <a:defRPr b="1" sz="1200">
                <a:solidFill>
                  <a:srgbClr val="059669"/>
                </a:solidFill>
              </a:defRPr>
            </a:pPr>
            <a:r>
              <a:t>High (Gold): &lt; 400 kg CO2e/ha</a:t>
            </a:r>
          </a:p>
          <a:p>
            <a:pPr>
              <a:spcAft>
                <a:spcPts val="600"/>
              </a:spcAft>
              <a:defRPr sz="1100">
                <a:solidFill>
                  <a:srgbClr val="64748B"/>
                </a:solidFill>
              </a:defRPr>
            </a:pPr>
            <a:r>
              <a:t>Assigned to highly efficient, low-emission practices (like organic vegetable/soybean farming with high SOC).</a:t>
            </a:r>
          </a:p>
          <a:p>
            <a:pPr>
              <a:spcBef>
                <a:spcPts val="800"/>
              </a:spcBef>
              <a:defRPr b="1" sz="1200">
                <a:solidFill>
                  <a:srgbClr val="D97706"/>
                </a:solidFill>
              </a:defRPr>
            </a:pPr>
            <a:r>
              <a:t>Medium (Silver): 400 - 1200 kg CO2e/ha</a:t>
            </a:r>
          </a:p>
          <a:p>
            <a:pPr>
              <a:spcAft>
                <a:spcPts val="600"/>
              </a:spcAft>
              <a:defRPr sz="1100">
                <a:solidFill>
                  <a:srgbClr val="64748B"/>
                </a:solidFill>
              </a:defRPr>
            </a:pPr>
            <a:r>
              <a:t>Standard regional farming with moderate chemical fertilizer input. Suggests standard optimizations.</a:t>
            </a:r>
          </a:p>
          <a:p>
            <a:pPr>
              <a:spcBef>
                <a:spcPts val="800"/>
              </a:spcBef>
              <a:defRPr b="1" sz="1200">
                <a:solidFill>
                  <a:srgbClr val="1E293B"/>
                </a:solidFill>
              </a:defRPr>
            </a:pPr>
            <a:r>
              <a:t>Low (Bronze): &gt; 1200 kg CO2e/ha</a:t>
            </a:r>
          </a:p>
          <a:p>
            <a:pPr>
              <a:spcAft>
                <a:spcPts val="600"/>
              </a:spcAft>
              <a:defRPr sz="1100">
                <a:solidFill>
                  <a:srgbClr val="64748B"/>
                </a:solidFill>
              </a:defRPr>
            </a:pPr>
            <a:r>
              <a:t>Intensive chemical usage or highly anaerobic crops (flooded Rice). Requires immediate mitigation actions.</a:t>
            </a:r>
          </a:p>
        </p:txBody>
      </p:sp>
      <p:sp>
        <p:nvSpPr>
          <p:cNvPr id="7" name="Rounded Rectangle 6"/>
          <p:cNvSpPr/>
          <p:nvPr/>
        </p:nvSpPr>
        <p:spPr>
          <a:xfrm>
            <a:off x="630936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059669"/>
                </a:solidFill>
              </a:defRPr>
            </a:pPr>
            <a:r>
              <a:t>Carbon Credits Calculation</a:t>
            </a:r>
          </a:p>
          <a:p>
            <a:br/>
            <a:pPr>
              <a:spcBef>
                <a:spcPts val="2500"/>
              </a:spcBef>
              <a:defRPr b="1" sz="1200">
                <a:solidFill>
                  <a:srgbClr val="1E293B"/>
                </a:solidFill>
              </a:defRPr>
            </a:pPr>
            <a:r>
              <a:t>Logical Principles:</a:t>
            </a:r>
          </a:p>
          <a:p>
            <a:pPr>
              <a:spcBef>
                <a:spcPts val="800"/>
              </a:spcBef>
              <a:defRPr sz="1100">
                <a:solidFill>
                  <a:srgbClr val="1E293B"/>
                </a:solidFill>
              </a:defRPr>
            </a:pPr>
            <a:r>
              <a:t>• Benchmark Threshold: Uses a standard target ceiling of 800 kg CO2e/ha. Farms emitting below this benchmark generate offset credits.</a:t>
            </a:r>
          </a:p>
          <a:p>
            <a:pPr>
              <a:spcBef>
                <a:spcPts val="800"/>
              </a:spcBef>
              <a:defRPr sz="1100">
                <a:solidFill>
                  <a:srgbClr val="1E293B"/>
                </a:solidFill>
              </a:defRPr>
            </a:pPr>
            <a:r>
              <a:t>• Credit Conversion: 1 Carbon Credit equals 1 metric tonne (1,000 kg) of CO2 equivalent offset.</a:t>
            </a:r>
          </a:p>
          <a:p>
            <a:pPr>
              <a:spcBef>
                <a:spcPts val="800"/>
              </a:spcBef>
              <a:defRPr sz="1100">
                <a:solidFill>
                  <a:srgbClr val="1E293B"/>
                </a:solidFill>
              </a:defRPr>
            </a:pPr>
            <a:r>
              <a:t>• No Negative Penalty: High-emitting farms (&gt; 800 kg) default to 0.00 credits, rather than suffering negative credit balances.</a:t>
            </a:r>
          </a:p>
        </p:txBody>
      </p:sp>
      <p:sp>
        <p:nvSpPr>
          <p:cNvPr id="8" name="Rectangle 7"/>
          <p:cNvSpPr/>
          <p:nvPr/>
        </p:nvSpPr>
        <p:spPr>
          <a:xfrm>
            <a:off x="6583680" y="2011680"/>
            <a:ext cx="4572000" cy="914400"/>
          </a:xfrm>
          <a:prstGeom prst="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50">
                <a:solidFill>
                  <a:srgbClr val="1E293B"/>
                </a:solidFill>
                <a:latin typeface="Courier New"/>
              </a:defRPr>
            </a:pPr>
            <a:r>
              <a:t>Credits (tCO2e) = Max(0, (800 - Footprint) / 1000)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Limitations &amp; Future Scope</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10</a:t>
            </a:r>
          </a:p>
        </p:txBody>
      </p:sp>
      <p:sp>
        <p:nvSpPr>
          <p:cNvPr id="6" name="Rounded Rectangle 5"/>
          <p:cNvSpPr/>
          <p:nvPr/>
        </p:nvSpPr>
        <p:spPr>
          <a:xfrm>
            <a:off x="73152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1E293B"/>
                </a:solidFill>
              </a:defRPr>
            </a:pPr>
            <a:r>
              <a:t>Current Limitations</a:t>
            </a:r>
          </a:p>
          <a:p>
            <a:pPr>
              <a:spcBef>
                <a:spcPts val="800"/>
              </a:spcBef>
              <a:defRPr sz="1200">
                <a:solidFill>
                  <a:srgbClr val="1E293B"/>
                </a:solidFill>
              </a:defRPr>
            </a:pPr>
            <a:r>
              <a:t>• Synthetic Target labels: The carbon footprint target variable is generated using standard emissions formulas rather than direct physical field gas measurements (due to lack of regional IoT carbon tracking sensors).</a:t>
            </a:r>
          </a:p>
          <a:p>
            <a:pPr>
              <a:spcBef>
                <a:spcPts val="800"/>
              </a:spcBef>
              <a:defRPr sz="1200">
                <a:solidFill>
                  <a:srgbClr val="1E293B"/>
                </a:solidFill>
              </a:defRPr>
            </a:pPr>
            <a:r>
              <a:t>• Geographic Generalization: The real soil testing dataset represents Challakere Taluk (Chitradurga). Generalizing to other districts relies on global averages, which may introduce errors in highly unique local micro-climates.</a:t>
            </a:r>
          </a:p>
        </p:txBody>
      </p:sp>
      <p:sp>
        <p:nvSpPr>
          <p:cNvPr id="7" name="Rounded Rectangle 6"/>
          <p:cNvSpPr/>
          <p:nvPr/>
        </p:nvSpPr>
        <p:spPr>
          <a:xfrm>
            <a:off x="6309360" y="1371600"/>
            <a:ext cx="512064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400"/>
              </a:spcAft>
              <a:defRPr b="1" sz="1800">
                <a:solidFill>
                  <a:srgbClr val="059669"/>
                </a:solidFill>
              </a:defRPr>
            </a:pPr>
            <a:r>
              <a:t>Future Directions</a:t>
            </a:r>
          </a:p>
          <a:p>
            <a:pPr>
              <a:spcBef>
                <a:spcPts val="800"/>
              </a:spcBef>
              <a:defRPr sz="1200">
                <a:solidFill>
                  <a:srgbClr val="1E293B"/>
                </a:solidFill>
              </a:defRPr>
            </a:pPr>
            <a:r>
              <a:t>• IoT Integrations: Deploy real carbon dioxide (CO2) and nitrous oxide (N2O) sensors in test fields to collect real-world footprint data to retrain the ML model.</a:t>
            </a:r>
          </a:p>
          <a:p>
            <a:pPr>
              <a:spcBef>
                <a:spcPts val="800"/>
              </a:spcBef>
              <a:defRPr sz="1200">
                <a:solidFill>
                  <a:srgbClr val="1E293B"/>
                </a:solidFill>
              </a:defRPr>
            </a:pPr>
            <a:r>
              <a:t>• Remote Sensing: Integrate Sentinel-2 / Landsat satellite imagery to capture NDVI and biomass data to estimate SOC variations dynamically over time.</a:t>
            </a:r>
          </a:p>
          <a:p>
            <a:pPr>
              <a:spcBef>
                <a:spcPts val="800"/>
              </a:spcBef>
              <a:defRPr sz="1200">
                <a:solidFill>
                  <a:srgbClr val="1E293B"/>
                </a:solidFill>
              </a:defRPr>
            </a:pPr>
            <a:r>
              <a:t>• Statewide Expansion: Connect to other Indian state soil databases (like Tamil Nadu or Maharashtra) to broaden the scope outside Karnataka.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274320"/>
          </a:xfrm>
          <a:prstGeom prst="rect">
            <a:avLst/>
          </a:prstGeom>
          <a:noFill/>
        </p:spPr>
        <p:txBody>
          <a:bodyPr wrap="square">
            <a:spAutoFit/>
          </a:bodyPr>
          <a:lstStyle/>
          <a:p>
            <a:pPr>
              <a:defRPr sz="900" b="1">
                <a:solidFill>
                  <a:srgbClr val="059669"/>
                </a:solidFill>
                <a:latin typeface="Arial"/>
              </a:defRPr>
            </a:pPr>
            <a:r>
              <a:t>CARBONINTEL PROJECT REVIEW</a:t>
            </a:r>
          </a:p>
        </p:txBody>
      </p:sp>
      <p:sp>
        <p:nvSpPr>
          <p:cNvPr id="4" name="TextBox 3"/>
          <p:cNvSpPr txBox="1"/>
          <p:nvPr/>
        </p:nvSpPr>
        <p:spPr>
          <a:xfrm>
            <a:off x="548640" y="320040"/>
            <a:ext cx="10972800" cy="548640"/>
          </a:xfrm>
          <a:prstGeom prst="rect">
            <a:avLst/>
          </a:prstGeom>
          <a:noFill/>
        </p:spPr>
        <p:txBody>
          <a:bodyPr wrap="square">
            <a:spAutoFit/>
          </a:bodyPr>
          <a:lstStyle/>
          <a:p>
            <a:pPr>
              <a:defRPr sz="2400" b="1">
                <a:solidFill>
                  <a:srgbClr val="FFFFFF"/>
                </a:solidFill>
                <a:latin typeface="Arial"/>
              </a:defRPr>
            </a:pPr>
            <a:r>
              <a:t>References &amp; Acknowledgements</a:t>
            </a:r>
          </a:p>
        </p:txBody>
      </p:sp>
      <p:sp>
        <p:nvSpPr>
          <p:cNvPr id="5" name="TextBox 4"/>
          <p:cNvSpPr txBox="1"/>
          <p:nvPr/>
        </p:nvSpPr>
        <p:spPr>
          <a:xfrm>
            <a:off x="548640" y="6400800"/>
            <a:ext cx="11094415" cy="365760"/>
          </a:xfrm>
          <a:prstGeom prst="rect">
            <a:avLst/>
          </a:prstGeom>
          <a:noFill/>
        </p:spPr>
        <p:txBody>
          <a:bodyPr wrap="none">
            <a:spAutoFit/>
          </a:bodyPr>
          <a:lstStyle/>
          <a:p>
            <a:pPr algn="l">
              <a:defRPr sz="900">
                <a:solidFill>
                  <a:srgbClr val="64748B"/>
                </a:solidFill>
                <a:latin typeface="Arial"/>
              </a:defRPr>
            </a:pPr>
            <a:r>
              <a:t>CarbonIntel: Precision Agriculture Carbon Intelligence Platform    |    Slide 11</a:t>
            </a:r>
          </a:p>
        </p:txBody>
      </p:sp>
      <p:sp>
        <p:nvSpPr>
          <p:cNvPr id="6" name="TextBox 5"/>
          <p:cNvSpPr txBox="1"/>
          <p:nvPr/>
        </p:nvSpPr>
        <p:spPr>
          <a:xfrm>
            <a:off x="731520" y="1371600"/>
            <a:ext cx="10728655" cy="4572000"/>
          </a:xfrm>
          <a:prstGeom prst="rect">
            <a:avLst/>
          </a:prstGeom>
          <a:noFill/>
        </p:spPr>
        <p:txBody>
          <a:bodyPr wrap="square">
            <a:spAutoFit/>
          </a:bodyPr>
          <a:lstStyle/>
          <a:p>
            <a:pPr>
              <a:spcAft>
                <a:spcPts val="1400"/>
              </a:spcAft>
              <a:defRPr b="1" sz="1800">
                <a:solidFill>
                  <a:srgbClr val="1E293B"/>
                </a:solidFill>
              </a:defRPr>
            </a:pPr>
            <a:r>
              <a:t>Key Data &amp; Literature References</a:t>
            </a:r>
          </a:p>
          <a:p>
            <a:pPr>
              <a:spcBef>
                <a:spcPts val="800"/>
              </a:spcBef>
              <a:defRPr sz="1200">
                <a:solidFill>
                  <a:srgbClr val="1E293B"/>
                </a:solidFill>
              </a:defRPr>
            </a:pPr>
            <a:r>
              <a:t>1. Intergovernmental Panel on Climate Change (IPCC) - '2019 Refinement to the 2006 IPCC Guidelines for National Greenhouse Gas Inventories' (Agricultural Soils chapter).</a:t>
            </a:r>
          </a:p>
          <a:p>
            <a:pPr>
              <a:spcBef>
                <a:spcPts val="800"/>
              </a:spcBef>
              <a:defRPr sz="1200">
                <a:solidFill>
                  <a:srgbClr val="1E293B"/>
                </a:solidFill>
              </a:defRPr>
            </a:pPr>
            <a:r>
              <a:t>2. Indian Soil Health Card (SHC) Portal - Ministry of Agriculture &amp; Farmers Welfare (Karnataka State soil records).</a:t>
            </a:r>
          </a:p>
          <a:p>
            <a:pPr>
              <a:spcBef>
                <a:spcPts val="800"/>
              </a:spcBef>
              <a:defRPr sz="1200">
                <a:solidFill>
                  <a:srgbClr val="1E293B"/>
                </a:solidFill>
              </a:defRPr>
            </a:pPr>
            <a:r>
              <a:t>3. NASA POWER Project (Prediction Of Worldwide Energy Resources) - Climatological daily and monthly planetary atmospheric profiles.</a:t>
            </a:r>
          </a:p>
          <a:p>
            <a:pPr>
              <a:spcBef>
                <a:spcPts val="800"/>
              </a:spcBef>
              <a:defRPr sz="1200">
                <a:solidFill>
                  <a:srgbClr val="1E293B"/>
                </a:solidFill>
              </a:defRPr>
            </a:pPr>
            <a:r>
              <a:t>4. ISRIC World Soil Information - 'SoilGrids 2.0: Global soil property predictions map at 250 m resolution'.</a:t>
            </a:r>
          </a:p>
          <a:p>
            <a:pPr>
              <a:spcBef>
                <a:spcPts val="800"/>
              </a:spcBef>
              <a:defRPr sz="1200">
                <a:solidFill>
                  <a:srgbClr val="1E293B"/>
                </a:solidFill>
              </a:defRPr>
            </a:pPr>
            <a:r>
              <a:t>5. AIKosh Soil Testing Lab Directory database (Geographic listings of active agricultural testing centers in India).</a:t>
            </a:r>
          </a:p>
          <a:p>
            <a:br/>
            <a:pPr>
              <a:spcBef>
                <a:spcPts val="2000"/>
              </a:spcBef>
              <a:defRPr b="1" sz="1600">
                <a:solidFill>
                  <a:srgbClr val="059669"/>
                </a:solidFill>
              </a:defRPr>
            </a:pPr>
            <a:r>
              <a:t>Acknowledgements</a:t>
            </a:r>
          </a:p>
          <a:p>
            <a:pPr>
              <a:spcBef>
                <a:spcPts val="600"/>
              </a:spcBef>
              <a:defRPr sz="1150">
                <a:solidFill>
                  <a:srgbClr val="64748B"/>
                </a:solidFill>
              </a:defRPr>
            </a:pPr>
            <a:r>
              <a:t>We express gratitude to the open-science initiatives of NASA, ISRIC, Open-Meteo, and the open-data releases from the Department of Agriculture, Government of Karnataka, for providing the scientific baseline datasets that made this validation study possible.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